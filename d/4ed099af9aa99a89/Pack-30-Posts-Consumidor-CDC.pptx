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consumidor, pela lei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é toda pessoa física ou jurídica que adquire ou utiliza produto ou serviço como destinatário final.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2º,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Coletividade também é consumidora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Equipara-se a consumidor a coletividade de pessoas, ainda que indetermináveis, que haja intervindo nas relações de consumo.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2º,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fornecedor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é toda pessoa física ou jurídica, pública ou privada, nacional ou estrangeira, e os entes despersonalizados, que desenvolvem atividade de produção, distribuição ou comercialização de produtos ou prestação de serviços.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3º,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“Serviços de banco e de seguro ficam fora do CDC.”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é qualquer atividade fornecida no mercado de consumo, mediante remuneração, inclusive as de natureza bancária, financeira, de crédito e securitária, salvo as decorrentes de relações de caráter trabalhista.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3º, § 2º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direitos básicos do consumidor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adequada e clara sobre produtos e serviços, com quantidade, características, composição, qualidade, tributos e preço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publicidade enganosa e abusiva, métodos comerciais coercitivos ou desleais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Efetiva prevenção e reparação de danos patrimoniais e morais, individuais, coletivos e difusos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6º, III, IV e VI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Inversão do ônus da prova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direito básico do consumidor a facilitação da defesa de seus direitos, inclusive com a inversão do ônus da prova a seu favor no processo civil, a critério do juiz, quando for verossímil a alegação ou quando ele for hipossuficiente.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6º, VIII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Defeito do produto: responsabilidade sem culpa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fabricante, o produtor, o construtor e o importador respondem, independentemente de culpa, pela reparação dos danos causados por defeitos de projeto, fabricação, construção, montagem, fórmulas, manipulação, apresentação ou acondicionamento, e por informações insuficientes ou inadequadas.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12,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Defeito no serviço: responsabilidade sem culpa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fornecedor de serviços responde, independentemente da existência de culpa, pela reparação dos danos causados aos consumidores por defeitos relativos à prestação dos serviços.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14,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fornecedor de serviços não responde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prova que, tendo prestado o serviço, o defeito inexiste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prova a culpa exclusiva do consumidor ou de terceiro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14, § 3º, I e II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Profissionais liberais: responsabilidade pessoal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responsabilidade pessoal dos profissionais liberais será apurada mediante a verificação de culpa.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14, §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Vício de quantidade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conteúdo líquido for inferior às indicações do recipiente, da embalagem, da rotulagem ou da publicidade, o consumidor pode exigir, alternativamente, abatimento proporcional do preço ou complementação do peso ou medida.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19, I e 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 com vício: 3 opções do consumidor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Reexecução dos serviços, sem custo adicional e quando cabível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Restituição imediata da quantia paga, monetariamente atualizada, sem prejuízo de perdas e danos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Abatimento proporcional do preço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20,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pedir reparação por fato do produto ou serviço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Prescreve em cinco anos a pretensão à reparação pelos danos causados por fato do produto ou do serviço, contados a partir do conhecimento do dano e de sua autoria.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27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Informação em língua portuguesa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oferta e a apresentação de produtos e serviços devem assegurar informações corretas, claras, precisas, ostensivas e em língua portuguesa sobre características, qualidades, quantidade, composição, preço, garantia, prazos de validade e origem.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Peças de reposição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Fabricantes e importadores devem assegurar a oferta de componentes e peças de reposição enquanto não cessar a fabricação ou importação do produto. Depois, a oferta deve ser mantida por período razoável.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Publicidade por telefone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proibida a publicidade de bens e serviços por telefone quando a chamada for onerosa ao consumidor que a origina.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33,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pelos prepostos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fornecedor do produto ou serviço é solidariamente responsável pelos atos de seus prepostos ou representantes autônomos.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Publicidade deve ser identificável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publicidade deve ser veiculada de forma que o consumidor, fácil e imediatamente, a identifique como tal.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36,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publicidade enganosa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enganosa qualquer informação ou comunicação de caráter publicitário, inteira ou parcialmente falsa, ou capaz de induzir o consumidor em erro, mesmo por omissão, sobre natureza, características, qualidade, quantidade, propriedades, origem, preço e outros dados.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37,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de publicidade abusiva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publicidade discriminatória de qualquer natureza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incite à violência ou explore o medo ou a superstição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 se aproveite da deficiência de julgamento e experiência da criança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37, § 2º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prova a veracidade do anúncio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ônus da prova da veracidade e correção da informação ou comunicação publicitária cabe a quem as patrocina.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 casada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vedado ao fornecedor condicionar o fornecimento de produto ou serviço ao fornecimento de outro produto ou serviço, bem como, sem justa causa, a limites quantitativos.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39,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enviado sem pedido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vedado enviar ou entregar ao consumidor, sem solicitação prévia, qualquer produto, ou fornecer qualquer serviço.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39, III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Validade do orçamento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estipulação em contrário, o valor orçado tem validade de dez dias, contados do recebimento pelo consumidor. O orçamento prévio deve discriminar mão de obra, materiais, condições de pagamento e datas de início e término.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40,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ilegível ou desconhecido não obriga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contratos de consumo não obrigam o consumidor se ele não teve oportunidade de conhecer previamente o conteúdo ou se foram redigidos de modo a dificultar a compreensão de seu sentido e alcance.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 no contrato: interpretação favorável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cláusulas contratuais serão interpretadas de maneira mais favorável ao consumidor.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Recibo e pré-contrato também vinculam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declarações de vontade constantes de escritos particulares, recibos e pré-contratos relativos às relações de consumo vinculam o fornecedor, ensejando inclusive execução específica.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Cláusulas nulas de pleno direito (exemplos)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que exonerem ou atenuem a responsabilidade do fornecedor por vícios ou impliquem renúncia de direitos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que subtraiam ao consumidor a opção de reembolso da quantia já paga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que transfiram responsabilidades a terceiros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51,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Teto da multa de mora em contrato de consumo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multas de mora decorrentes do inadimplemento de obrigações no seu termo não podem ser superiores a dois por cento do valor da prestação.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52,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pode ser proposta no domicílio do autor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ação de responsabilidade civil do fornecedor de produtos e serviços, a ação pode ser proposta no domicílio do autor.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101,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 Direito do Consumidor</dc:title>
  <dc:subject>PptxGenJS Presentation</dc:subject>
  <dc:creator>Gabriel Araujo de Lima</dc:creator>
  <cp:lastModifiedBy>Gabriel Araujo de Lima</cp:lastModifiedBy>
  <cp:revision>1</cp:revision>
  <dcterms:created xsi:type="dcterms:W3CDTF">2026-10-27T23:31:17Z</dcterms:created>
  <dcterms:modified xsi:type="dcterms:W3CDTF">2026-10-27T23:31:17Z</dcterms:modified>
</cp:coreProperties>
</file>