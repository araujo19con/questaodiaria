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6858000" cy="8572500"/>
  <p:notesSz cx="85725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1 · Direito de Família.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2 · Direito de Família.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3 · Direito de Família.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4 · Direito de Família.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5 · Direito de Família.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6 · Direito de Família.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7 · Direito de Família.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8 · Direito de Família.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9 · Direito de Família.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10 · Direito de Família.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11 · Direito de Família.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12 · Direito de Família.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13 · Direito de Família.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14 · Direito de Família.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15 · Direito de Família.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16 · Direito de Família.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17 · Direito de Família.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18 · Direito de Família.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19 · Direito de Família.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20 · Direito de Família.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21 · Direito de Família.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22 · Direito de Família.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23 · Direito de Família.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24 · Direito de Família.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25 · Direito de Família.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26 · Direito de Família.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27 · Direito de Família.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28 · Direito de Família.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29 · Direito de Família.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30 · Direito de Família.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2688336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2688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DE FAMÍLIA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Casamento: comunhão plena de vida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casamento estabelece comunhão plena de vida, com base na igualdade de direitos e deveres dos cônjuges.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Código Civil, art. 1.511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2688336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2688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DE FAMÍLIA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Consortes, companheiros e responsáveis pela família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Pelo casamento, os cônjuges assumem mutuamente a condição de consortes, companheiros e responsáveis pelos encargos da família.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Código Civil, art. 1.565, caput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2688336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2688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DE FAMÍLIA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Deveres de ambos os cônjuges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São deveres de ambos os cônjuges: fidelidade recíproca; vida em comum, no domicílio conjugal; mútua assistência; sustento, guarda e educação dos filhos; respeito e consideração mútuos.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Código Civil, art. 1.566, I a V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2688336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2688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DE FAMÍLIA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Direção da sociedade conjugal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direção da sociedade conjugal é exercida, em colaboração, pelo marido e pela mulher, sempre no interesse do casal e dos filhos. Havendo divergência, qualquer dos cônjuges pode recorrer ao juiz.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Código Civil, art. 1.567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2688336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2688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DE FAMÍLIA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Sustento da família: proporção dos bens e rendimentos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cônjuges são obrigados a concorrer, na proporção de seus bens e dos rendimentos do trabalho, para o sustento da família e a educação dos filhos, qualquer que seja o regime patrimonial.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Código Civil, art. 1.568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2688336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2688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DE FAMÍLIA</a:t>
            </a:r>
            <a:endParaRPr lang="en-US" sz="1300" dirty="0"/>
          </a:p>
        </p:txBody>
      </p:sp>
      <p:sp>
        <p:nvSpPr>
          <p:cNvPr id="4" name="titulo"/>
          <p:cNvSpPr txBox="1"/>
          <p:nvPr/>
        </p:nvSpPr>
        <p:spPr>
          <a:xfrm>
            <a:off x="548640" y="132588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Quem não pode casar (exemplos)</a:t>
            </a:r>
            <a:endParaRPr lang="en-US" sz="3400" dirty="0"/>
          </a:p>
        </p:txBody>
      </p:sp>
      <p:sp>
        <p:nvSpPr>
          <p:cNvPr id="5" name="numero-1-fundo"/>
          <p:cNvSpPr/>
          <p:nvPr/>
        </p:nvSpPr>
        <p:spPr>
          <a:xfrm>
            <a:off x="548640" y="2953512"/>
            <a:ext cx="731520" cy="73152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6" name="numero-1"/>
          <p:cNvSpPr txBox="1"/>
          <p:nvPr/>
        </p:nvSpPr>
        <p:spPr>
          <a:xfrm>
            <a:off x="548640" y="295351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item-1"/>
          <p:cNvSpPr txBox="1"/>
          <p:nvPr/>
        </p:nvSpPr>
        <p:spPr>
          <a:xfrm>
            <a:off x="1554480" y="28803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ascendentes com os descendentes</a:t>
            </a:r>
            <a:endParaRPr lang="en-US" sz="2000" dirty="0"/>
          </a:p>
        </p:txBody>
      </p:sp>
      <p:sp>
        <p:nvSpPr>
          <p:cNvPr id="8" name="numero-2-fundo"/>
          <p:cNvSpPr/>
          <p:nvPr/>
        </p:nvSpPr>
        <p:spPr>
          <a:xfrm>
            <a:off x="548640" y="4325112"/>
            <a:ext cx="731520" cy="73152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9" name="numero-2"/>
          <p:cNvSpPr txBox="1"/>
          <p:nvPr/>
        </p:nvSpPr>
        <p:spPr>
          <a:xfrm>
            <a:off x="548640" y="432511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item-2"/>
          <p:cNvSpPr txBox="1"/>
          <p:nvPr/>
        </p:nvSpPr>
        <p:spPr>
          <a:xfrm>
            <a:off x="1554480" y="42519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irmãos e demais colaterais até o terceiro grau</a:t>
            </a:r>
            <a:endParaRPr lang="en-US" sz="2000" dirty="0"/>
          </a:p>
        </p:txBody>
      </p:sp>
      <p:sp>
        <p:nvSpPr>
          <p:cNvPr id="11" name="numero-3-fundo"/>
          <p:cNvSpPr/>
          <p:nvPr/>
        </p:nvSpPr>
        <p:spPr>
          <a:xfrm>
            <a:off x="548640" y="5696712"/>
            <a:ext cx="731520" cy="73152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2" name="numero-3"/>
          <p:cNvSpPr txBox="1"/>
          <p:nvPr/>
        </p:nvSpPr>
        <p:spPr>
          <a:xfrm>
            <a:off x="548640" y="569671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3" name="item-3"/>
          <p:cNvSpPr txBox="1"/>
          <p:nvPr/>
        </p:nvSpPr>
        <p:spPr>
          <a:xfrm>
            <a:off x="1554480" y="56235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pessoas casadas</a:t>
            </a:r>
            <a:endParaRPr lang="en-US" sz="2000" dirty="0"/>
          </a:p>
        </p:txBody>
      </p:sp>
      <p:sp>
        <p:nvSpPr>
          <p:cNvPr id="14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Código Civil, art. 1.521, I, IV e VI</a:t>
            </a:r>
            <a:endParaRPr lang="en-US" sz="1400" dirty="0"/>
          </a:p>
        </p:txBody>
      </p:sp>
      <p:sp>
        <p:nvSpPr>
          <p:cNvPr id="15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6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2688336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2688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DE FAMÍLIA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Pacto antenupcial: liberdade de escolher o regime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lícito aos nubentes, antes de celebrado o casamento, estipular, quanto aos seus bens, o que lhes aprouver. O regime de bens começa a vigorar desde a data do casamento.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Código Civil, art. 1.639, caput e § 1º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2688336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2688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DE FAMÍLIA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 pacto, vale a comunhão parcial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havendo convenção, ou sendo ela nula ou ineficaz, vigorará, quanto aos bens entre os cônjuges, o regime da comunhão parcial.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Código Civil, art. 1.640, caput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2688336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2688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DE FAMÍLIA</a:t>
            </a:r>
            <a:endParaRPr lang="en-US" sz="1300" dirty="0"/>
          </a:p>
        </p:txBody>
      </p:sp>
      <p:sp>
        <p:nvSpPr>
          <p:cNvPr id="4" name="titulo"/>
          <p:cNvSpPr txBox="1"/>
          <p:nvPr/>
        </p:nvSpPr>
        <p:spPr>
          <a:xfrm>
            <a:off x="548640" y="132588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Separação de bens obrigatória</a:t>
            </a:r>
            <a:endParaRPr lang="en-US" sz="3400" dirty="0"/>
          </a:p>
        </p:txBody>
      </p:sp>
      <p:sp>
        <p:nvSpPr>
          <p:cNvPr id="5" name="numero-1-fundo"/>
          <p:cNvSpPr/>
          <p:nvPr/>
        </p:nvSpPr>
        <p:spPr>
          <a:xfrm>
            <a:off x="548640" y="2953512"/>
            <a:ext cx="731520" cy="73152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6" name="numero-1"/>
          <p:cNvSpPr txBox="1"/>
          <p:nvPr/>
        </p:nvSpPr>
        <p:spPr>
          <a:xfrm>
            <a:off x="548640" y="295351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item-1"/>
          <p:cNvSpPr txBox="1"/>
          <p:nvPr/>
        </p:nvSpPr>
        <p:spPr>
          <a:xfrm>
            <a:off x="1554480" y="28803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Pessoas que casarem sem observar as causas suspensivas da celebração</a:t>
            </a:r>
            <a:endParaRPr lang="en-US" sz="2000" dirty="0"/>
          </a:p>
        </p:txBody>
      </p:sp>
      <p:sp>
        <p:nvSpPr>
          <p:cNvPr id="8" name="numero-2-fundo"/>
          <p:cNvSpPr/>
          <p:nvPr/>
        </p:nvSpPr>
        <p:spPr>
          <a:xfrm>
            <a:off x="548640" y="4325112"/>
            <a:ext cx="731520" cy="73152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9" name="numero-2"/>
          <p:cNvSpPr txBox="1"/>
          <p:nvPr/>
        </p:nvSpPr>
        <p:spPr>
          <a:xfrm>
            <a:off x="548640" y="432511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item-2"/>
          <p:cNvSpPr txBox="1"/>
          <p:nvPr/>
        </p:nvSpPr>
        <p:spPr>
          <a:xfrm>
            <a:off x="1554480" y="42519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Pessoa maior de 70 anos</a:t>
            </a:r>
            <a:endParaRPr lang="en-US" sz="2000" dirty="0"/>
          </a:p>
        </p:txBody>
      </p:sp>
      <p:sp>
        <p:nvSpPr>
          <p:cNvPr id="11" name="numero-3-fundo"/>
          <p:cNvSpPr/>
          <p:nvPr/>
        </p:nvSpPr>
        <p:spPr>
          <a:xfrm>
            <a:off x="548640" y="5696712"/>
            <a:ext cx="731520" cy="73152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2" name="numero-3"/>
          <p:cNvSpPr txBox="1"/>
          <p:nvPr/>
        </p:nvSpPr>
        <p:spPr>
          <a:xfrm>
            <a:off x="548640" y="569671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3" name="item-3"/>
          <p:cNvSpPr txBox="1"/>
          <p:nvPr/>
        </p:nvSpPr>
        <p:spPr>
          <a:xfrm>
            <a:off x="1554480" y="56235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os que dependerem, para casar, de suprimento judicial</a:t>
            </a:r>
            <a:endParaRPr lang="en-US" sz="2000" dirty="0"/>
          </a:p>
        </p:txBody>
      </p:sp>
      <p:sp>
        <p:nvSpPr>
          <p:cNvPr id="14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Código Civil, art. 1.641, I a III</a:t>
            </a:r>
            <a:endParaRPr lang="en-US" sz="1400" dirty="0"/>
          </a:p>
        </p:txBody>
      </p:sp>
      <p:sp>
        <p:nvSpPr>
          <p:cNvPr id="15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6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2688336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2688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DE FAMÍLIA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Comunhão parcial: o que se comunica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regime de comunhão parcial, comunicam-se os bens que sobrevierem ao casal, na constância do casamento, com as exceções previstas em lei.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Código Civil, art. 1.658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2688336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2688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DE FAMÍLIA</a:t>
            </a:r>
            <a:endParaRPr lang="en-US" sz="1300" dirty="0"/>
          </a:p>
        </p:txBody>
      </p:sp>
      <p:sp>
        <p:nvSpPr>
          <p:cNvPr id="4" name="titulo"/>
          <p:cNvSpPr txBox="1"/>
          <p:nvPr/>
        </p:nvSpPr>
        <p:spPr>
          <a:xfrm>
            <a:off x="548640" y="132588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Comunhão parcial: o que fica de fora (exemplos)</a:t>
            </a:r>
            <a:endParaRPr lang="en-US" sz="3400" dirty="0"/>
          </a:p>
        </p:txBody>
      </p:sp>
      <p:sp>
        <p:nvSpPr>
          <p:cNvPr id="5" name="numero-1-fundo"/>
          <p:cNvSpPr/>
          <p:nvPr/>
        </p:nvSpPr>
        <p:spPr>
          <a:xfrm>
            <a:off x="548640" y="2953512"/>
            <a:ext cx="731520" cy="73152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6" name="numero-1"/>
          <p:cNvSpPr txBox="1"/>
          <p:nvPr/>
        </p:nvSpPr>
        <p:spPr>
          <a:xfrm>
            <a:off x="548640" y="295351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item-1"/>
          <p:cNvSpPr txBox="1"/>
          <p:nvPr/>
        </p:nvSpPr>
        <p:spPr>
          <a:xfrm>
            <a:off x="1554480" y="28803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Bens que cada cônjuge possuía ao casar</a:t>
            </a:r>
            <a:endParaRPr lang="en-US" sz="2000" dirty="0"/>
          </a:p>
        </p:txBody>
      </p:sp>
      <p:sp>
        <p:nvSpPr>
          <p:cNvPr id="8" name="numero-2-fundo"/>
          <p:cNvSpPr/>
          <p:nvPr/>
        </p:nvSpPr>
        <p:spPr>
          <a:xfrm>
            <a:off x="548640" y="4325112"/>
            <a:ext cx="731520" cy="73152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9" name="numero-2"/>
          <p:cNvSpPr txBox="1"/>
          <p:nvPr/>
        </p:nvSpPr>
        <p:spPr>
          <a:xfrm>
            <a:off x="548640" y="432511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item-2"/>
          <p:cNvSpPr txBox="1"/>
          <p:nvPr/>
        </p:nvSpPr>
        <p:spPr>
          <a:xfrm>
            <a:off x="1554480" y="42519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Bens recebidos por doação ou sucessão na constância do casamento</a:t>
            </a:r>
            <a:endParaRPr lang="en-US" sz="2000" dirty="0"/>
          </a:p>
        </p:txBody>
      </p:sp>
      <p:sp>
        <p:nvSpPr>
          <p:cNvPr id="11" name="numero-3-fundo"/>
          <p:cNvSpPr/>
          <p:nvPr/>
        </p:nvSpPr>
        <p:spPr>
          <a:xfrm>
            <a:off x="548640" y="5696712"/>
            <a:ext cx="731520" cy="73152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2" name="numero-3"/>
          <p:cNvSpPr txBox="1"/>
          <p:nvPr/>
        </p:nvSpPr>
        <p:spPr>
          <a:xfrm>
            <a:off x="548640" y="569671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3" name="item-3"/>
          <p:cNvSpPr txBox="1"/>
          <p:nvPr/>
        </p:nvSpPr>
        <p:spPr>
          <a:xfrm>
            <a:off x="1554480" y="56235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Obrigações anteriores ao casamento</a:t>
            </a:r>
            <a:endParaRPr lang="en-US" sz="2000" dirty="0"/>
          </a:p>
        </p:txBody>
      </p:sp>
      <p:sp>
        <p:nvSpPr>
          <p:cNvPr id="14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Código Civil, art. 1.659, I e III</a:t>
            </a:r>
            <a:endParaRPr lang="en-US" sz="1400" dirty="0"/>
          </a:p>
        </p:txBody>
      </p:sp>
      <p:sp>
        <p:nvSpPr>
          <p:cNvPr id="15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6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2688336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2688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DE FAMÍLIA</a:t>
            </a:r>
            <a:endParaRPr lang="en-US" sz="1300" dirty="0"/>
          </a:p>
        </p:txBody>
      </p:sp>
      <p:sp>
        <p:nvSpPr>
          <p:cNvPr id="4" name="titulo"/>
          <p:cNvSpPr txBox="1"/>
          <p:nvPr/>
        </p:nvSpPr>
        <p:spPr>
          <a:xfrm>
            <a:off x="548640" y="132588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Outorga do cônjuge (exceto na separação absoluta)</a:t>
            </a:r>
            <a:endParaRPr lang="en-US" sz="3400" dirty="0"/>
          </a:p>
        </p:txBody>
      </p:sp>
      <p:sp>
        <p:nvSpPr>
          <p:cNvPr id="5" name="numero-1-fundo"/>
          <p:cNvSpPr/>
          <p:nvPr/>
        </p:nvSpPr>
        <p:spPr>
          <a:xfrm>
            <a:off x="548640" y="2953512"/>
            <a:ext cx="731520" cy="73152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6" name="numero-1"/>
          <p:cNvSpPr txBox="1"/>
          <p:nvPr/>
        </p:nvSpPr>
        <p:spPr>
          <a:xfrm>
            <a:off x="548640" y="295351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item-1"/>
          <p:cNvSpPr txBox="1"/>
          <p:nvPr/>
        </p:nvSpPr>
        <p:spPr>
          <a:xfrm>
            <a:off x="1554480" y="28803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Alienar ou gravar de ônus real bens imóveis</a:t>
            </a:r>
            <a:endParaRPr lang="en-US" sz="2000" dirty="0"/>
          </a:p>
        </p:txBody>
      </p:sp>
      <p:sp>
        <p:nvSpPr>
          <p:cNvPr id="8" name="numero-2-fundo"/>
          <p:cNvSpPr/>
          <p:nvPr/>
        </p:nvSpPr>
        <p:spPr>
          <a:xfrm>
            <a:off x="548640" y="4325112"/>
            <a:ext cx="731520" cy="73152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9" name="numero-2"/>
          <p:cNvSpPr txBox="1"/>
          <p:nvPr/>
        </p:nvSpPr>
        <p:spPr>
          <a:xfrm>
            <a:off x="548640" y="432511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item-2"/>
          <p:cNvSpPr txBox="1"/>
          <p:nvPr/>
        </p:nvSpPr>
        <p:spPr>
          <a:xfrm>
            <a:off x="1554480" y="42519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Prestar fiança ou aval</a:t>
            </a:r>
            <a:endParaRPr lang="en-US" sz="2000" dirty="0"/>
          </a:p>
        </p:txBody>
      </p:sp>
      <p:sp>
        <p:nvSpPr>
          <p:cNvPr id="11" name="numero-3-fundo"/>
          <p:cNvSpPr/>
          <p:nvPr/>
        </p:nvSpPr>
        <p:spPr>
          <a:xfrm>
            <a:off x="548640" y="5696712"/>
            <a:ext cx="731520" cy="73152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2" name="numero-3"/>
          <p:cNvSpPr txBox="1"/>
          <p:nvPr/>
        </p:nvSpPr>
        <p:spPr>
          <a:xfrm>
            <a:off x="548640" y="569671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3" name="item-3"/>
          <p:cNvSpPr txBox="1"/>
          <p:nvPr/>
        </p:nvSpPr>
        <p:spPr>
          <a:xfrm>
            <a:off x="1554480" y="56235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Fazer doação, não remuneratória, de bens comuns</a:t>
            </a:r>
            <a:endParaRPr lang="en-US" sz="2000" dirty="0"/>
          </a:p>
        </p:txBody>
      </p:sp>
      <p:sp>
        <p:nvSpPr>
          <p:cNvPr id="14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Código Civil, art. 1.647, I, III e IV</a:t>
            </a:r>
            <a:endParaRPr lang="en-US" sz="1400" dirty="0"/>
          </a:p>
        </p:txBody>
      </p:sp>
      <p:sp>
        <p:nvSpPr>
          <p:cNvPr id="15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6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2688336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2688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DE FAMÍLIA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Profissão e bens próprios: liberdade do cônjuge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Qualquer que seja o regime de bens, cada cônjuge pode livremente praticar os atos de disposição e administração necessários ao desempenho de sua profissão, com a limitação do art. 1.647, I, e administrar os bens próprios.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Código Civil, art. 1.642, I e II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2688336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2688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DE FAMÍLIA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Divórcio não muda os deveres dos pais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divórcio não modifica os direitos e deveres dos pais em relação aos filhos. O novo casamento de qualquer dos pais não pode importar restrições a esses direitos e deveres.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Código Civil, art. 1.579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2688336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2688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DE FAMÍLIA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Mito ou verdade?</a:t>
            </a:r>
            <a:endParaRPr lang="en-US" sz="2400" dirty="0"/>
          </a:p>
        </p:txBody>
      </p:sp>
      <p:sp>
        <p:nvSpPr>
          <p:cNvPr id="5" name="afirmacao"/>
          <p:cNvSpPr txBox="1"/>
          <p:nvPr/>
        </p:nvSpPr>
        <p:spPr>
          <a:xfrm>
            <a:off x="548640" y="1965960"/>
            <a:ext cx="5760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“Separação de fato dissolve o casamento.”</a:t>
            </a:r>
            <a:endParaRPr lang="en-US" sz="3400" dirty="0"/>
          </a:p>
        </p:txBody>
      </p:sp>
      <p:sp>
        <p:nvSpPr>
          <p:cNvPr id="6" name="veredito-fundo"/>
          <p:cNvSpPr/>
          <p:nvPr/>
        </p:nvSpPr>
        <p:spPr>
          <a:xfrm>
            <a:off x="548640" y="4206240"/>
            <a:ext cx="2103120" cy="685800"/>
          </a:xfrm>
          <a:prstGeom prst="roundRect">
            <a:avLst>
              <a:gd name="adj" fmla="val 26667"/>
            </a:avLst>
          </a:prstGeom>
          <a:solidFill>
            <a:srgbClr val="B23A48"/>
          </a:solidFill>
          <a:ln w="12700">
            <a:solidFill>
              <a:srgbClr val="B23A48"/>
            </a:solidFill>
            <a:prstDash val="solid"/>
          </a:ln>
        </p:spPr>
      </p:sp>
      <p:sp>
        <p:nvSpPr>
          <p:cNvPr id="7" name="veredito"/>
          <p:cNvSpPr txBox="1"/>
          <p:nvPr/>
        </p:nvSpPr>
        <p:spPr>
          <a:xfrm>
            <a:off x="548640" y="420624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MITO</a:t>
            </a:r>
            <a:endParaRPr lang="en-US" sz="2600" dirty="0"/>
          </a:p>
        </p:txBody>
      </p:sp>
      <p:sp>
        <p:nvSpPr>
          <p:cNvPr id="8" name="texto"/>
          <p:cNvSpPr txBox="1"/>
          <p:nvPr/>
        </p:nvSpPr>
        <p:spPr>
          <a:xfrm>
            <a:off x="548640" y="5120640"/>
            <a:ext cx="5760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casamento válido só se dissolve pela morte de um dos cônjuges ou pelo divórcio.</a:t>
            </a:r>
            <a:endParaRPr lang="en-US" sz="2000" dirty="0"/>
          </a:p>
        </p:txBody>
      </p:sp>
      <p:sp>
        <p:nvSpPr>
          <p:cNvPr id="9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Código Civil, art. 1.571, § 1º</a:t>
            </a:r>
            <a:endParaRPr lang="en-US" sz="1400" dirty="0"/>
          </a:p>
        </p:txBody>
      </p:sp>
      <p:sp>
        <p:nvSpPr>
          <p:cNvPr id="10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1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2688336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2688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DE FAMÍLIA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Poder familiar: enquanto os filhos são menores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filhos estão sujeitos ao poder familiar enquanto menores. Compete a ambos os pais, qualquer que seja a sua situação conjugal, o pleno exercício do poder familiar.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Código Civil, arts. 1.630 e 1.634, caput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2688336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2688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DE FAMÍLIA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Filhos têm os mesmos direitos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filhos, havidos ou não da relação de casamento, ou por adoção, têm os mesmos direitos e qualificações, proibidas quaisquer designações discriminatórias relativas à filiação.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Código Civil, art. 1.596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2688336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2688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DE FAMÍLIA</a:t>
            </a:r>
            <a:endParaRPr lang="en-US" sz="1300" dirty="0"/>
          </a:p>
        </p:txBody>
      </p:sp>
      <p:sp>
        <p:nvSpPr>
          <p:cNvPr id="4" name="titulo"/>
          <p:cNvSpPr txBox="1"/>
          <p:nvPr/>
        </p:nvSpPr>
        <p:spPr>
          <a:xfrm>
            <a:off x="548640" y="132588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Alimentos: quando são devidos</a:t>
            </a:r>
            <a:endParaRPr lang="en-US" sz="3400" dirty="0"/>
          </a:p>
        </p:txBody>
      </p:sp>
      <p:sp>
        <p:nvSpPr>
          <p:cNvPr id="5" name="numero-1-fundo"/>
          <p:cNvSpPr/>
          <p:nvPr/>
        </p:nvSpPr>
        <p:spPr>
          <a:xfrm>
            <a:off x="548640" y="2953512"/>
            <a:ext cx="731520" cy="73152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6" name="numero-1"/>
          <p:cNvSpPr txBox="1"/>
          <p:nvPr/>
        </p:nvSpPr>
        <p:spPr>
          <a:xfrm>
            <a:off x="548640" y="295351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item-1"/>
          <p:cNvSpPr txBox="1"/>
          <p:nvPr/>
        </p:nvSpPr>
        <p:spPr>
          <a:xfrm>
            <a:off x="1554480" y="28803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os pretende não tem bens suficientes</a:t>
            </a:r>
            <a:endParaRPr lang="en-US" sz="2000" dirty="0"/>
          </a:p>
        </p:txBody>
      </p:sp>
      <p:sp>
        <p:nvSpPr>
          <p:cNvPr id="8" name="numero-2-fundo"/>
          <p:cNvSpPr/>
          <p:nvPr/>
        </p:nvSpPr>
        <p:spPr>
          <a:xfrm>
            <a:off x="548640" y="4325112"/>
            <a:ext cx="731520" cy="73152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9" name="numero-2"/>
          <p:cNvSpPr txBox="1"/>
          <p:nvPr/>
        </p:nvSpPr>
        <p:spPr>
          <a:xfrm>
            <a:off x="548640" y="432511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item-2"/>
          <p:cNvSpPr txBox="1"/>
          <p:nvPr/>
        </p:nvSpPr>
        <p:spPr>
          <a:xfrm>
            <a:off x="1554480" y="42519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os pretende não pode prover, pelo seu trabalho, a própria mantença</a:t>
            </a:r>
            <a:endParaRPr lang="en-US" sz="2000" dirty="0"/>
          </a:p>
        </p:txBody>
      </p:sp>
      <p:sp>
        <p:nvSpPr>
          <p:cNvPr id="11" name="numero-3-fundo"/>
          <p:cNvSpPr/>
          <p:nvPr/>
        </p:nvSpPr>
        <p:spPr>
          <a:xfrm>
            <a:off x="548640" y="5696712"/>
            <a:ext cx="731520" cy="73152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2" name="numero-3"/>
          <p:cNvSpPr txBox="1"/>
          <p:nvPr/>
        </p:nvSpPr>
        <p:spPr>
          <a:xfrm>
            <a:off x="548640" y="569671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3" name="item-3"/>
          <p:cNvSpPr txBox="1"/>
          <p:nvPr/>
        </p:nvSpPr>
        <p:spPr>
          <a:xfrm>
            <a:off x="1554480" y="56235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deve pagar pode fornecê-los sem desfalque do necessário ao seu sustento</a:t>
            </a:r>
            <a:endParaRPr lang="en-US" sz="2000" dirty="0"/>
          </a:p>
        </p:txBody>
      </p:sp>
      <p:sp>
        <p:nvSpPr>
          <p:cNvPr id="14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Código Civil, art. 1.695</a:t>
            </a:r>
            <a:endParaRPr lang="en-US" sz="1400" dirty="0"/>
          </a:p>
        </p:txBody>
      </p:sp>
      <p:sp>
        <p:nvSpPr>
          <p:cNvPr id="15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6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2688336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2688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DE FAMÍLIA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Alimentos: direito recíproco entre pais e filhos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direito à prestação de alimentos é recíproco entre pais e filhos e extensivo a todos os ascendentes, recaindo a obrigação nos mais próximos em grau, uns em falta de outros.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Código Civil, art. 1.696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2688336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2688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DE FAMÍLIA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Alimentos podem ser revistos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mudar a situação financeira de quem paga ou de quem recebe, o interessado pode pedir ao juiz exoneração, redução ou majoração do encargo, conforme as circunstâncias.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Código Civil, art. 1.699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2688336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2688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DE FAMÍLIA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Dever de alimentos passa aos herdeiros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obrigação de prestar alimentos transmite-se aos herdeiros do devedor, na forma do art. 1.694.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Código Civil, art. 1.700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2688336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2688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DE FAMÍLIA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Pensão em dinheiro ou hospedagem e sustento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deve alimentos pode pensionar o alimentando ou dar-lhe hospedagem e sustento, sem prejuízo do dever de prestar o necessário à educação, quando menor. O juiz pode fixar a forma de cumprimento.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Código Civil, art. 1.701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2688336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2688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DE FAMÍLIA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Mito ou verdade?</a:t>
            </a:r>
            <a:endParaRPr lang="en-US" sz="2400" dirty="0"/>
          </a:p>
        </p:txBody>
      </p:sp>
      <p:sp>
        <p:nvSpPr>
          <p:cNvPr id="5" name="afirmacao"/>
          <p:cNvSpPr txBox="1"/>
          <p:nvPr/>
        </p:nvSpPr>
        <p:spPr>
          <a:xfrm>
            <a:off x="548640" y="1965960"/>
            <a:ext cx="5760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“O direito a alimentos pode ser renunciado.”</a:t>
            </a:r>
            <a:endParaRPr lang="en-US" sz="3400" dirty="0"/>
          </a:p>
        </p:txBody>
      </p:sp>
      <p:sp>
        <p:nvSpPr>
          <p:cNvPr id="6" name="veredito-fundo"/>
          <p:cNvSpPr/>
          <p:nvPr/>
        </p:nvSpPr>
        <p:spPr>
          <a:xfrm>
            <a:off x="548640" y="4206240"/>
            <a:ext cx="2103120" cy="685800"/>
          </a:xfrm>
          <a:prstGeom prst="roundRect">
            <a:avLst>
              <a:gd name="adj" fmla="val 26667"/>
            </a:avLst>
          </a:prstGeom>
          <a:solidFill>
            <a:srgbClr val="B23A48"/>
          </a:solidFill>
          <a:ln w="12700">
            <a:solidFill>
              <a:srgbClr val="B23A48"/>
            </a:solidFill>
            <a:prstDash val="solid"/>
          </a:ln>
        </p:spPr>
      </p:sp>
      <p:sp>
        <p:nvSpPr>
          <p:cNvPr id="7" name="veredito"/>
          <p:cNvSpPr txBox="1"/>
          <p:nvPr/>
        </p:nvSpPr>
        <p:spPr>
          <a:xfrm>
            <a:off x="548640" y="420624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MITO</a:t>
            </a:r>
            <a:endParaRPr lang="en-US" sz="2600" dirty="0"/>
          </a:p>
        </p:txBody>
      </p:sp>
      <p:sp>
        <p:nvSpPr>
          <p:cNvPr id="8" name="texto"/>
          <p:cNvSpPr txBox="1"/>
          <p:nvPr/>
        </p:nvSpPr>
        <p:spPr>
          <a:xfrm>
            <a:off x="548640" y="5120640"/>
            <a:ext cx="5760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credor pode não exercer o direito a alimentos, mas é vedado renunciá-lo, e o crédito é insuscetível de cessão, compensação ou penhora.</a:t>
            </a:r>
            <a:endParaRPr lang="en-US" sz="2000" dirty="0"/>
          </a:p>
        </p:txBody>
      </p:sp>
      <p:sp>
        <p:nvSpPr>
          <p:cNvPr id="9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Código Civil, art. 1.707</a:t>
            </a:r>
            <a:endParaRPr lang="en-US" sz="1400" dirty="0"/>
          </a:p>
        </p:txBody>
      </p:sp>
      <p:sp>
        <p:nvSpPr>
          <p:cNvPr id="10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1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2688336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2688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DE FAMÍLIA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Quando cessa o dever de alimentos ao credor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o casamento, a união estável ou o concubinato do credor, cessa o dever de prestar alimentos.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Código Civil, art. 1.708, caput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2688336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2688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DE FAMÍLIA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União estável: deveres entre os companheiros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relações pessoais entre os companheiros obedecem aos deveres de lealdade, respeito e assistência, e de guarda, sustento e educação dos filhos.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Código Civil, art. 1.724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2688336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2688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DE FAMÍLIA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União estável: regime de bens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união estável, salvo contrato escrito entre os companheiros, aplica-se às relações patrimoniais, no que couber, o regime da comunhão parcial de bens.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Código Civil, art. 1.725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2688336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2688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DE FAMÍLIA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União estável pode virar casamento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união estável poderá converter-se em casamento, mediante pedido dos companheiros ao juiz e assento no Registro Civil.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Código Civil, art. 1.726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2688336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2688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DE FAMÍLIA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União estável e pessoa casada separada de fato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união estável não se constitui se ocorrerem os impedimentos do art. 1.521, mas o inciso VI (pessoas casadas) não se aplica se a pessoa casada estiver separada de fato ou judicialmente.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Código Civil, art. 1.723, § 1º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2688336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2688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DE FAMÍLIA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Domicílio do casal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domicílio do casal será escolhido por ambos os cônjuges, mas um e outro podem ausentar-se do domicílio conjugal para atender a encargos públicos, ao exercício da profissão ou a interesses particulares relevantes.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Código Civil, art. 1.569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2688336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2688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DE FAMÍLIA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Poder familiar: falta de um dos pais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Durante o casamento e a união estável, compete o poder familiar aos pais. Na falta ou impedimento de um deles, o outro o exercerá com exclusividade.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Código Civil, art. 1.631, caput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Pack 30 Posts Direito de Família</dc:title>
  <dc:subject>PptxGenJS Presentation</dc:subject>
  <dc:creator>Gabriel Araujo de Lima</dc:creator>
  <cp:lastModifiedBy>Gabriel Araujo de Lima</cp:lastModifiedBy>
  <cp:revision>1</cp:revision>
  <dcterms:created xsi:type="dcterms:W3CDTF">2026-10-28T03:42:01Z</dcterms:created>
  <dcterms:modified xsi:type="dcterms:W3CDTF">2026-10-28T03:42:01Z</dcterms:modified>
</cp:coreProperties>
</file>