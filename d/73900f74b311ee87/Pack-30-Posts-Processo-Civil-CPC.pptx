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4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5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6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7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8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9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10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11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12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13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14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15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16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17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18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19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20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21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22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23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24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25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26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27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28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29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30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Processo civil e Constituição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civil será ordenado, disciplinado e interpretado conforme os valores e as normas fundamentais estabelecidos na Constituição da República, observando-se as disposições do Código.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1º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Solução integral do mérito em prazo razoável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partes têm o direito de obter em prazo razoável a solução integral do mérito, incluída a atividade satisfativa.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4º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Boa-fé processual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Aquele que de qualquer forma participa do processo deve comportar-se de acordo com a boa-fé.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5º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Dever de cooperação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sujeitos do processo devem cooperar entre si para que se obtenha, em tempo razoável, decisão de mérito justa e efetiva.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6º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Paridade de tratamento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assegurada às partes paridade de tratamento em relação ao exercício de direitos e faculdades processuais, aos meios de defesa, aos ônus, aos deveres e à aplicação de sanções processuais.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7º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Contraditório prévio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proferirá decisão contra uma das partes sem que ela seja previamente ouvida, com exceções como a tutela provisória de urgência.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9º, caput e parágrafo único, 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 ou verdade?</a:t>
            </a:r>
            <a:endParaRPr lang="en-US" sz="2400" dirty="0"/>
          </a:p>
        </p:txBody>
      </p:sp>
      <p:sp>
        <p:nvSpPr>
          <p:cNvPr id="5" name="afirmacao"/>
          <p:cNvSpPr txBox="1"/>
          <p:nvPr/>
        </p:nvSpPr>
        <p:spPr>
          <a:xfrm>
            <a:off x="548640" y="19659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juiz pode decidir com base em fundamento novo, sem ouvir as partes, se for matéria de ofício.”</a:t>
            </a:r>
            <a:endParaRPr lang="en-US" sz="3400" dirty="0"/>
          </a:p>
        </p:txBody>
      </p:sp>
      <p:sp>
        <p:nvSpPr>
          <p:cNvPr id="6" name="veredito-fundo"/>
          <p:cNvSpPr/>
          <p:nvPr/>
        </p:nvSpPr>
        <p:spPr>
          <a:xfrm>
            <a:off x="548640" y="420624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veredito"/>
          <p:cNvSpPr txBox="1"/>
          <p:nvPr/>
        </p:nvSpPr>
        <p:spPr>
          <a:xfrm>
            <a:off x="54864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2600" dirty="0"/>
          </a:p>
        </p:txBody>
      </p:sp>
      <p:sp>
        <p:nvSpPr>
          <p:cNvPr id="8" name="texto"/>
          <p:cNvSpPr txBox="1"/>
          <p:nvPr/>
        </p:nvSpPr>
        <p:spPr>
          <a:xfrm>
            <a:off x="548640" y="5120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Não. O juiz não pode decidir, em grau algum de jurisdição, com base em fundamento a respeito do qual não se tenha dado às partes oportunidade de se manifestar, ainda que se trate de matéria sobre a qual deva decidir de ofício.</a:t>
            </a:r>
            <a:endParaRPr lang="en-US" sz="2000" dirty="0"/>
          </a:p>
        </p:txBody>
      </p:sp>
      <p:sp>
        <p:nvSpPr>
          <p:cNvPr id="9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10</a:t>
            </a:r>
            <a:endParaRPr lang="en-US" sz="1400" dirty="0"/>
          </a:p>
        </p:txBody>
      </p:sp>
      <p:sp>
        <p:nvSpPr>
          <p:cNvPr id="10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1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Deveres das partes e procuradores (art. 77)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 os fatos em juízo conforme a verdade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formular pretensão nem apresentar defesa quando cientes de que são destituídas de fundamento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produzir provas nem praticar atos inúteis ou desnecessários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77, I, II e III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Endereço para intimações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dever das partes e procuradores declinar, no primeiro momento que lhes couber falar nos autos, o endereço residencial ou profissional onde receberão intimações, atualizando-o sempre que houver modificação.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77, V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Gratuidade da justiça: quem tem direito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pessoa natural ou jurídica, brasileira ou estrangeira, com insuficiência de recursos para pagar custas, despesas processuais e honorários advocatícios tem direito à gratuidade da justiça, na forma da lei.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98,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gratuidade da justiça compreende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taxas ou as custas judiciais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despesas com a realização de exame de código genético (DNA) e de outros exames considerados essenciais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honorários do advogado e do perito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98, § 1º, I, V e VI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Incumbências do juiz (art. 139)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Assegurar às partes igualdade de tratamento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Velar pela duração razoável do processo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Promover, a qualquer tempo, a autocomposição, preferencialmente com auxílio de conciliadores e mediadores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139, I, II e V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 de prazos e provas pelo juiz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 ao juiz dilatar os prazos processuais e alterar a ordem de produção dos meios de prova, adequando-os às necessidades do conflito, de modo a conferir maior efetividade à tutela do direito.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139, VI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Defensoria Pública: prazo em dobro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Defensoria Pública gozará de prazo em dobro para todas as suas manifestações processuais, com início na intimação pessoal do defensor público.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186, caput e § 1º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Início do prazo (art. 231): três hipóteses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Citação ou intimação pelo correio: data de juntada aos autos do aviso de recebimento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Citação ou intimação por oficial de justiça: data de juntada aos autos do mandado cumprido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Citação ou intimação eletrônica: dia útil seguinte à consulta ao teor ou ao término do prazo para a consulta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231, I, II e V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Efeitos da citação válida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citação válida, ainda quando ordenada por juízo incompetente, induz litispendência, torna litigiosa a coisa e constitui em mora o devedor, ressalvado o disposto nos arts. 397 e 398 do Código Civil.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240,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da causa na ação de cobrança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ação de cobrança de dívida, o valor da causa é a soma monetariamente corrigida do principal, dos juros de mora vencidos e de outras penalidades, se houver, até a data de propositura da ação.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292, 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Tutela de urgência: requisitos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tutela de urgência será concedida quando houver elementos que evidenciem a probabilidade do direito e o perigo de dano ou o risco ao resultado útil do processo.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300,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Tutela da evidência: duas hipóteses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Abuso do direito de defesa ou manifesto propósito protelatório da parte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Alegações comprovadas apenas documentalmente, com tese firmada em casos repetitivos ou súmula vinculante</a:t>
            </a:r>
            <a:endParaRPr lang="en-US" sz="2000" dirty="0"/>
          </a:p>
        </p:txBody>
      </p:sp>
      <p:sp>
        <p:nvSpPr>
          <p:cNvPr id="11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311, I e II</a:t>
            </a:r>
            <a:endParaRPr lang="en-US" sz="1400" dirty="0"/>
          </a:p>
        </p:txBody>
      </p:sp>
      <p:sp>
        <p:nvSpPr>
          <p:cNvPr id="12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3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Petição inicial: o que ela indica (art. 319)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juízo a que é dirigida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fato e os fundamentos jurídicos do pedido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pedido com as suas especificações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319, I, III e IV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Emenda da petição inicial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petição inicial não preencher os requisitos ou tiver defeitos capazes de dificultar o julgamento do mérito, o juiz determinará que o autor a emende ou complete no prazo de 15 dias, indicando com precisão o que deve ser corrigido.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321, caput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Concentração da defesa na contestação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 ao réu alegar, na contestação, toda a matéria de defesa, expondo as razões de fato e de direito com que impugna o pedido do autor e especificando as provas que pretende produzir.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336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Ônus da impugnação especificada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 também ao réu manifestar-se precisamente sobre as alegações de fato da petição inicial, presumindo-se verdadeiras as não impugnadas, salvo exceções previstas em lei.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341,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Meios de prova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partes têm o direito de empregar todos os meios legais, bem como os moralmente legítimos, ainda que não especificados no Código, para provar a verdade dos fatos em que se funda o pedido ou a defesa.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369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geral do ônus da prova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autor, quanto ao fato constitutivo de seu direito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réu, quanto à existência de fato impeditivo, modificativo ou extintivo do direito do autor</a:t>
            </a:r>
            <a:endParaRPr lang="en-US" sz="2000" dirty="0"/>
          </a:p>
        </p:txBody>
      </p:sp>
      <p:sp>
        <p:nvSpPr>
          <p:cNvPr id="11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373, I e II</a:t>
            </a:r>
            <a:endParaRPr lang="en-US" sz="1400" dirty="0"/>
          </a:p>
        </p:txBody>
      </p:sp>
      <p:sp>
        <p:nvSpPr>
          <p:cNvPr id="12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3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Distribuição diversa do ônus da prova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casos previstos em lei ou diante de peculiaridades da causa, o juiz pode atribuir o ônus da prova de modo diverso, por decisão fundamentada, dando à parte a oportunidade de se desincumbir do ônus atribuído.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373, § 1º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juntar os documentos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 à parte instruir a petição inicial ou a contestação com os documentos destinados a provar suas alegações.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434,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Intimação pessoal antes da extinção por abandono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casos de processo parado por mais de um ano por negligência das partes ou de abandono da causa pelo autor por mais de 30 dias, a parte será intimada pessoalmente para suprir a falta em 5 dias antes da extinção sem resolução do mérito.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485, II, III e § 1º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Elementos essenciais da sentença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relatório, com nomes das partes, identificação do caso e suma do pedido e da contestação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fundamentos, em que o juiz analisa as questões de fato e de direito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dispositivo, em que o juiz resolve as questões principais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489, I, II e III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Cumprimento de sentença: pagamento voluntário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condenação em quantia certa, o executado é intimado para pagar o débito no prazo de 15 dias. Sem pagamento voluntário, o débito é acrescido de multa de dez por cento e honorários de dez por cento.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art. 523, caput e § 1º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 30 Posts Processo Civil (CPC)</dc:title>
  <dc:subject>PptxGenJS Presentation</dc:subject>
  <dc:creator>Gabriel Araujo de Lima</dc:creator>
  <cp:lastModifiedBy>Gabriel Araujo de Lima</cp:lastModifiedBy>
  <cp:revision>1</cp:revision>
  <dcterms:created xsi:type="dcterms:W3CDTF">2026-10-28T04:03:46Z</dcterms:created>
  <dcterms:modified xsi:type="dcterms:W3CDTF">2026-10-28T04:03:46Z</dcterms:modified>
</cp:coreProperties>
</file>