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6858000" cy="8572500"/>
  <p:notesSz cx="85725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1 · Direito do Consumidor.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2 · Direito do Consumidor.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3 · Direito do Consumidor.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4 · Direito do Consumidor.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5 · Direito do Consumidor.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6 · Direito Imobiliário.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7 · Direito do Trabalho.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8 · Datas.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9 · Direito do Trabalho.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10 · Proteção de Dados.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11 · Institucional.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12 · Direito Imobiliário.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13 · Direito do Trabalho.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14 · Direito de Família.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15 · Direito de Família.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16 · Direito de Família.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17 · Direito Previdenciário.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18 · Direito Previdenciário.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19 · Sucessões.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 20 · Processo Civil. Troque [Nome do Escritório], OAB/UF e @seuperfil pelos seus dados. Legenda sugerida no arquivo legendas.txt. Conteúdo informativo, conferido em 19/10/2026: confira a legislação antes de publicar.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044952" cy="457200"/>
          </a:xfrm>
          <a:prstGeom prst="roundRect">
            <a:avLst>
              <a:gd name="adj" fmla="val 50000"/>
            </a:avLst>
          </a:prstGeom>
          <a:solidFill>
            <a:srgbClr val="2E3B5C"/>
          </a:solidFill>
          <a:ln w="12700">
            <a:solidFill>
              <a:srgbClr val="2E3B5C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E6D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DO CONSUMIDOR</a:t>
            </a:r>
            <a:endParaRPr lang="en-US" sz="1300" dirty="0"/>
          </a:p>
        </p:txBody>
      </p:sp>
      <p:sp>
        <p:nvSpPr>
          <p:cNvPr id="4" name="numero"/>
          <p:cNvSpPr txBox="1"/>
          <p:nvPr/>
        </p:nvSpPr>
        <p:spPr>
          <a:xfrm>
            <a:off x="548640" y="1417320"/>
            <a:ext cx="5760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dias</a:t>
            </a:r>
            <a:endParaRPr lang="en-US" sz="110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347472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Arrependimento em compra online</a:t>
            </a:r>
            <a:endParaRPr lang="en-US" sz="3200" dirty="0"/>
          </a:p>
        </p:txBody>
      </p:sp>
      <p:sp>
        <p:nvSpPr>
          <p:cNvPr id="6" name="texto"/>
          <p:cNvSpPr txBox="1"/>
          <p:nvPr/>
        </p:nvSpPr>
        <p:spPr>
          <a:xfrm>
            <a:off x="548640" y="4983480"/>
            <a:ext cx="5760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a compra é feita fora do estabelecimento comercial, como por telefone ou internet, o consumidor pode desistir do contrato em 7 dias, contados da assinatura ou do recebimento do produto ou serviço.</a:t>
            </a:r>
            <a:endParaRPr lang="en-US" sz="2000" dirty="0"/>
          </a:p>
        </p:txBody>
      </p:sp>
      <p:sp>
        <p:nvSpPr>
          <p:cNvPr id="7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CDC, art. 49</a:t>
            </a:r>
            <a:endParaRPr lang="en-US" sz="1400" dirty="0"/>
          </a:p>
        </p:txBody>
      </p:sp>
      <p:sp>
        <p:nvSpPr>
          <p:cNvPr id="8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9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044952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DO CONSUMIDOR</a:t>
            </a:r>
            <a:endParaRPr lang="en-US" sz="1300" dirty="0"/>
          </a:p>
        </p:txBody>
      </p:sp>
      <p:sp>
        <p:nvSpPr>
          <p:cNvPr id="4" name="titulo"/>
          <p:cNvSpPr txBox="1"/>
          <p:nvPr/>
        </p:nvSpPr>
        <p:spPr>
          <a:xfrm>
            <a:off x="548640" y="132588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Presente com defeito: 3 caminhos</a:t>
            </a:r>
            <a:endParaRPr lang="en-US" sz="3400" dirty="0"/>
          </a:p>
        </p:txBody>
      </p:sp>
      <p:sp>
        <p:nvSpPr>
          <p:cNvPr id="5" name="numero-1-fundo"/>
          <p:cNvSpPr/>
          <p:nvPr/>
        </p:nvSpPr>
        <p:spPr>
          <a:xfrm>
            <a:off x="548640" y="2953512"/>
            <a:ext cx="731520" cy="73152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6" name="numero-1"/>
          <p:cNvSpPr txBox="1"/>
          <p:nvPr/>
        </p:nvSpPr>
        <p:spPr>
          <a:xfrm>
            <a:off x="548640" y="29535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item-1"/>
          <p:cNvSpPr txBox="1"/>
          <p:nvPr/>
        </p:nvSpPr>
        <p:spPr>
          <a:xfrm>
            <a:off x="1554480" y="28803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Substituição do produto por outro da mesma espécie, em perfeitas condições</a:t>
            </a:r>
            <a:endParaRPr lang="en-US" sz="2000" dirty="0"/>
          </a:p>
        </p:txBody>
      </p:sp>
      <p:sp>
        <p:nvSpPr>
          <p:cNvPr id="8" name="numero-2-fundo"/>
          <p:cNvSpPr/>
          <p:nvPr/>
        </p:nvSpPr>
        <p:spPr>
          <a:xfrm>
            <a:off x="548640" y="4325112"/>
            <a:ext cx="731520" cy="73152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9" name="numero-2"/>
          <p:cNvSpPr txBox="1"/>
          <p:nvPr/>
        </p:nvSpPr>
        <p:spPr>
          <a:xfrm>
            <a:off x="548640" y="43251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item-2"/>
          <p:cNvSpPr txBox="1"/>
          <p:nvPr/>
        </p:nvSpPr>
        <p:spPr>
          <a:xfrm>
            <a:off x="1554480" y="42519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Restituição imediata da quantia paga, monetariamente atualizada</a:t>
            </a:r>
            <a:endParaRPr lang="en-US" sz="2000" dirty="0"/>
          </a:p>
        </p:txBody>
      </p:sp>
      <p:sp>
        <p:nvSpPr>
          <p:cNvPr id="11" name="numero-3-fundo"/>
          <p:cNvSpPr/>
          <p:nvPr/>
        </p:nvSpPr>
        <p:spPr>
          <a:xfrm>
            <a:off x="548640" y="5696712"/>
            <a:ext cx="731520" cy="73152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2" name="numero-3"/>
          <p:cNvSpPr txBox="1"/>
          <p:nvPr/>
        </p:nvSpPr>
        <p:spPr>
          <a:xfrm>
            <a:off x="548640" y="56967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3" name="item-3"/>
          <p:cNvSpPr txBox="1"/>
          <p:nvPr/>
        </p:nvSpPr>
        <p:spPr>
          <a:xfrm>
            <a:off x="1554480" y="56235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Abatimento proporcional do preço</a:t>
            </a:r>
            <a:endParaRPr lang="en-US" sz="2000" dirty="0"/>
          </a:p>
        </p:txBody>
      </p:sp>
      <p:sp>
        <p:nvSpPr>
          <p:cNvPr id="14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CDC, art. 18, § 1º</a:t>
            </a:r>
            <a:endParaRPr lang="en-US" sz="1400" dirty="0"/>
          </a:p>
        </p:txBody>
      </p:sp>
      <p:sp>
        <p:nvSpPr>
          <p:cNvPr id="15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6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044952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DO CONSUMIDOR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Cobrança indevida: devolução em dobro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consumidor cobrado em quantia indevida tem direito à repetição do indébito, por valor igual ao dobro do que pagou em excesso, com correção monetária e juros legais, salvo engano justificável.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CDC, art. 42, parágrafo único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044952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DO CONSUMIDOR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Mito ou verdade?</a:t>
            </a:r>
            <a:endParaRPr lang="en-US" sz="2400" dirty="0"/>
          </a:p>
        </p:txBody>
      </p:sp>
      <p:sp>
        <p:nvSpPr>
          <p:cNvPr id="5" name="afirmacao"/>
          <p:cNvSpPr txBox="1"/>
          <p:nvPr/>
        </p:nvSpPr>
        <p:spPr>
          <a:xfrm>
            <a:off x="548640" y="1965960"/>
            <a:ext cx="5760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“Abrir cadastro de consumo em nome de alguém não exige nenhum aviso.”</a:t>
            </a:r>
            <a:endParaRPr lang="en-US" sz="3400" dirty="0"/>
          </a:p>
        </p:txBody>
      </p:sp>
      <p:sp>
        <p:nvSpPr>
          <p:cNvPr id="6" name="veredito-fundo"/>
          <p:cNvSpPr/>
          <p:nvPr/>
        </p:nvSpPr>
        <p:spPr>
          <a:xfrm>
            <a:off x="548640" y="4206240"/>
            <a:ext cx="2103120" cy="685800"/>
          </a:xfrm>
          <a:prstGeom prst="roundRect">
            <a:avLst>
              <a:gd name="adj" fmla="val 26667"/>
            </a:avLst>
          </a:prstGeom>
          <a:solidFill>
            <a:srgbClr val="B23A48"/>
          </a:solidFill>
          <a:ln w="12700">
            <a:solidFill>
              <a:srgbClr val="B23A48"/>
            </a:solidFill>
            <a:prstDash val="solid"/>
          </a:ln>
        </p:spPr>
      </p:sp>
      <p:sp>
        <p:nvSpPr>
          <p:cNvPr id="7" name="veredito"/>
          <p:cNvSpPr txBox="1"/>
          <p:nvPr/>
        </p:nvSpPr>
        <p:spPr>
          <a:xfrm>
            <a:off x="548640" y="42062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MITO</a:t>
            </a:r>
            <a:endParaRPr lang="en-US" sz="2600" dirty="0"/>
          </a:p>
        </p:txBody>
      </p:sp>
      <p:sp>
        <p:nvSpPr>
          <p:cNvPr id="8" name="texto"/>
          <p:cNvSpPr txBox="1"/>
          <p:nvPr/>
        </p:nvSpPr>
        <p:spPr>
          <a:xfrm>
            <a:off x="548640" y="5120640"/>
            <a:ext cx="5760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abertura de cadastro, ficha, registro e dados pessoais e de consumo deve ser comunicada por escrito ao consumidor, quando não solicitada por ele.</a:t>
            </a:r>
            <a:endParaRPr lang="en-US" sz="2000" dirty="0"/>
          </a:p>
        </p:txBody>
      </p:sp>
      <p:sp>
        <p:nvSpPr>
          <p:cNvPr id="9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CDC, art. 43, § 2º</a:t>
            </a:r>
            <a:endParaRPr lang="en-US" sz="1400" dirty="0"/>
          </a:p>
        </p:txBody>
      </p:sp>
      <p:sp>
        <p:nvSpPr>
          <p:cNvPr id="10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1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044952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044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DO CONSUMIDOR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Arrependimento pelo mesmo canal da compra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consumidor pode exercer o direito de arrependimento pela mesma ferramenta utilizada para a contratação, sem prejuízo de outros meios disponibilizados pelo fornecedor.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Decreto 7.962/2013, art. 5º, § 1º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807208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807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IMOBILIÁRIO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Locação por temporada: até 90 dias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Considera-se locação para temporada a destinada à residência temporária do locatário, para lazer, cursos, tratamento de saúde ou obras no imóvel dele, contratada por prazo não superior a noventa dias.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Lei 8.245/1991, art. 48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807208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807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DO TRABALHO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Hora extra: no mínimo 50% a mais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remuneração da hora extra será, pelo menos, 50% superior à da hora normal. A duração diária pode ser acrescida de até duas horas extras, por acordo individual, convenção coletiva ou acordo coletivo.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CLT, art. 59, caput e § 1º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1463040" cy="457200"/>
          </a:xfrm>
          <a:prstGeom prst="roundRect">
            <a:avLst>
              <a:gd name="adj" fmla="val 50000"/>
            </a:avLst>
          </a:prstGeom>
          <a:solidFill>
            <a:srgbClr val="2E3B5C"/>
          </a:solidFill>
          <a:ln w="12700">
            <a:solidFill>
              <a:srgbClr val="2E3B5C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E6D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</a:t>
            </a:r>
            <a:endParaRPr lang="en-US" sz="1300" dirty="0"/>
          </a:p>
        </p:txBody>
      </p:sp>
      <p:sp>
        <p:nvSpPr>
          <p:cNvPr id="4" name="titulo"/>
          <p:cNvSpPr txBox="1"/>
          <p:nvPr/>
        </p:nvSpPr>
        <p:spPr>
          <a:xfrm>
            <a:off x="548640" y="1828800"/>
            <a:ext cx="5760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Boas festas</a:t>
            </a:r>
            <a:endParaRPr lang="en-US" sz="4400" dirty="0"/>
          </a:p>
        </p:txBody>
      </p:sp>
      <p:sp>
        <p:nvSpPr>
          <p:cNvPr id="5" name="detalhe"/>
          <p:cNvSpPr/>
          <p:nvPr/>
        </p:nvSpPr>
        <p:spPr>
          <a:xfrm>
            <a:off x="548640" y="4160520"/>
            <a:ext cx="320040" cy="320040"/>
          </a:xfrm>
          <a:prstGeom prst="ellipse">
            <a:avLst/>
          </a:prstGeom>
          <a:solidFill>
            <a:srgbClr val="B08D57"/>
          </a:solidFill>
          <a:ln w="12700">
            <a:solidFill>
              <a:srgbClr val="B08D57"/>
            </a:solidFill>
            <a:prstDash val="solid"/>
          </a:ln>
        </p:spPr>
      </p:sp>
      <p:sp>
        <p:nvSpPr>
          <p:cNvPr id="6" name="texto"/>
          <p:cNvSpPr txBox="1"/>
          <p:nvPr/>
        </p:nvSpPr>
        <p:spPr>
          <a:xfrm>
            <a:off x="548640" y="466344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Desejamos a você e à sua família um Natal de paz e um novo ano de realizações.</a:t>
            </a:r>
            <a:endParaRPr lang="en-US" sz="2200" dirty="0"/>
          </a:p>
        </p:txBody>
      </p:sp>
      <p:sp>
        <p:nvSpPr>
          <p:cNvPr id="7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8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807208" cy="457200"/>
          </a:xfrm>
          <a:prstGeom prst="roundRect">
            <a:avLst>
              <a:gd name="adj" fmla="val 50000"/>
            </a:avLst>
          </a:prstGeom>
          <a:solidFill>
            <a:srgbClr val="2E3B5C"/>
          </a:solidFill>
          <a:ln w="12700">
            <a:solidFill>
              <a:srgbClr val="2E3B5C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807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E6D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DO TRABALHO</a:t>
            </a:r>
            <a:endParaRPr lang="en-US" sz="1300" dirty="0"/>
          </a:p>
        </p:txBody>
      </p:sp>
      <p:sp>
        <p:nvSpPr>
          <p:cNvPr id="4" name="numero"/>
          <p:cNvSpPr txBox="1"/>
          <p:nvPr/>
        </p:nvSpPr>
        <p:spPr>
          <a:xfrm>
            <a:off x="548640" y="1417320"/>
            <a:ext cx="5760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dias</a:t>
            </a:r>
            <a:endParaRPr lang="en-US" sz="110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347472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Verbas rescisórias: prazo de pagamento</a:t>
            </a:r>
            <a:endParaRPr lang="en-US" sz="3200" dirty="0"/>
          </a:p>
        </p:txBody>
      </p:sp>
      <p:sp>
        <p:nvSpPr>
          <p:cNvPr id="6" name="texto"/>
          <p:cNvSpPr txBox="1"/>
          <p:nvPr/>
        </p:nvSpPr>
        <p:spPr>
          <a:xfrm>
            <a:off x="548640" y="4983480"/>
            <a:ext cx="5760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entrega dos documentos que comprovem a comunicação da extinção do contrato e o pagamento dos valores da rescisão devem ser efetuados até dez dias contados a partir do término do contrato.</a:t>
            </a:r>
            <a:endParaRPr lang="en-US" sz="2000" dirty="0"/>
          </a:p>
        </p:txBody>
      </p:sp>
      <p:sp>
        <p:nvSpPr>
          <p:cNvPr id="7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CLT, art. 477, § 6º</a:t>
            </a:r>
            <a:endParaRPr lang="en-US" sz="1400" dirty="0"/>
          </a:p>
        </p:txBody>
      </p:sp>
      <p:sp>
        <p:nvSpPr>
          <p:cNvPr id="8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9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569464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569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PROTEÇÃO DE DADOS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pode revogar o consentimento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titular dos dados pessoais pode obter do controlador, a qualquer momento e mediante requisição, a revogação do consentimento, nos termos do § 5º do art. 8º da LGPD.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Lei 13.709/2018 (LGPD), art. 18, IX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EF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093976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093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INSTITUCIONAL</a:t>
            </a:r>
            <a:endParaRPr lang="en-US" sz="1300" dirty="0"/>
          </a:p>
        </p:txBody>
      </p:sp>
      <p:sp>
        <p:nvSpPr>
          <p:cNvPr id="4" name="titulo"/>
          <p:cNvSpPr txBox="1"/>
          <p:nvPr/>
        </p:nvSpPr>
        <p:spPr>
          <a:xfrm>
            <a:off x="548640" y="1828800"/>
            <a:ext cx="5760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Retomada do atendimento</a:t>
            </a:r>
            <a:endParaRPr lang="en-US" sz="4400" dirty="0"/>
          </a:p>
        </p:txBody>
      </p:sp>
      <p:sp>
        <p:nvSpPr>
          <p:cNvPr id="5" name="detalhe"/>
          <p:cNvSpPr/>
          <p:nvPr/>
        </p:nvSpPr>
        <p:spPr>
          <a:xfrm>
            <a:off x="548640" y="4160520"/>
            <a:ext cx="320040" cy="320040"/>
          </a:xfrm>
          <a:prstGeom prst="ellipse">
            <a:avLst/>
          </a:prstGeom>
          <a:solidFill>
            <a:srgbClr val="B08D57"/>
          </a:solidFill>
          <a:ln w="12700">
            <a:solidFill>
              <a:srgbClr val="B08D57"/>
            </a:solidFill>
            <a:prstDash val="solid"/>
          </a:ln>
        </p:spPr>
      </p:sp>
      <p:sp>
        <p:nvSpPr>
          <p:cNvPr id="6" name="texto"/>
          <p:cNvSpPr txBox="1"/>
          <p:nvPr/>
        </p:nvSpPr>
        <p:spPr>
          <a:xfrm>
            <a:off x="548640" y="466344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Retomamos o atendimento em [data], no horário de [horário]. Obrigado pela confiança em 2026.</a:t>
            </a:r>
            <a:endParaRPr lang="en-US" sz="2200" dirty="0"/>
          </a:p>
        </p:txBody>
      </p:sp>
      <p:sp>
        <p:nvSpPr>
          <p:cNvPr id="7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8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807208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807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IMOBILIÁRIO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Aluguel: apenas uma garantia por contrato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locador pode exigir caução, fiança, seguro de fiança locatícia ou cessão fiduciária de quotas de fundo de investimento. É vedada, sob pena de nulidade, mais de uma modalidade de garantia no mesmo contrato.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Lei 8.245/1991, art. 37 e parágrafo único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807208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807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DO TRABALHO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Férias podem ser divididas em até 3 períodos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a concordância do empregado, as férias podem ser usufruídas em até três períodos: um não inferior a 14 dias corridos e os demais não inferiores a 5 dias corridos cada.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CLT, art. 134, § 1º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688336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688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DE FAMÍLIA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Pensão alimentícia: necessidade e possibilidade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Parentes, cônjuges ou companheiros podem pedir uns aos outros os alimentos de que necessitem para viver de modo compatível com a sua condição social. Eles são fixados na proporção das necessidades de quem pede e dos recursos de quem paga.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Código Civil, art. 1.694, caput e § 1º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688336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688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DE FAMÍLIA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União estável: o que a lei exige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reconhecida como entidade familiar a união estável entre o homem e a mulher, configurada na convivência pública, contínua e duradoura e estabelecida com o objetivo de constituição de família.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Código Civil, art. 1.723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688336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688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DE FAMÍLIA</a:t>
            </a:r>
            <a:endParaRPr lang="en-US" sz="1300" dirty="0"/>
          </a:p>
        </p:txBody>
      </p:sp>
      <p:sp>
        <p:nvSpPr>
          <p:cNvPr id="4" name="titulo"/>
          <p:cNvSpPr txBox="1"/>
          <p:nvPr/>
        </p:nvSpPr>
        <p:spPr>
          <a:xfrm>
            <a:off x="548640" y="132588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Guarda compartilhada: o que é</a:t>
            </a:r>
            <a:endParaRPr lang="en-US" sz="3400" dirty="0"/>
          </a:p>
        </p:txBody>
      </p:sp>
      <p:sp>
        <p:nvSpPr>
          <p:cNvPr id="5" name="numero-1-fundo"/>
          <p:cNvSpPr/>
          <p:nvPr/>
        </p:nvSpPr>
        <p:spPr>
          <a:xfrm>
            <a:off x="548640" y="2953512"/>
            <a:ext cx="731520" cy="73152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6" name="numero-1"/>
          <p:cNvSpPr txBox="1"/>
          <p:nvPr/>
        </p:nvSpPr>
        <p:spPr>
          <a:xfrm>
            <a:off x="548640" y="29535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item-1"/>
          <p:cNvSpPr txBox="1"/>
          <p:nvPr/>
        </p:nvSpPr>
        <p:spPr>
          <a:xfrm>
            <a:off x="1554480" y="28803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Responsabilização conjunta de pai e mãe</a:t>
            </a:r>
            <a:endParaRPr lang="en-US" sz="2000" dirty="0"/>
          </a:p>
        </p:txBody>
      </p:sp>
      <p:sp>
        <p:nvSpPr>
          <p:cNvPr id="8" name="numero-2-fundo"/>
          <p:cNvSpPr/>
          <p:nvPr/>
        </p:nvSpPr>
        <p:spPr>
          <a:xfrm>
            <a:off x="548640" y="4325112"/>
            <a:ext cx="731520" cy="73152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9" name="numero-2"/>
          <p:cNvSpPr txBox="1"/>
          <p:nvPr/>
        </p:nvSpPr>
        <p:spPr>
          <a:xfrm>
            <a:off x="548640" y="43251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item-2"/>
          <p:cNvSpPr txBox="1"/>
          <p:nvPr/>
        </p:nvSpPr>
        <p:spPr>
          <a:xfrm>
            <a:off x="1554480" y="42519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 conjunto de direitos e deveres sobre os filhos comuns</a:t>
            </a:r>
            <a:endParaRPr lang="en-US" sz="2000" dirty="0"/>
          </a:p>
        </p:txBody>
      </p:sp>
      <p:sp>
        <p:nvSpPr>
          <p:cNvPr id="11" name="numero-3-fundo"/>
          <p:cNvSpPr/>
          <p:nvPr/>
        </p:nvSpPr>
        <p:spPr>
          <a:xfrm>
            <a:off x="548640" y="5696712"/>
            <a:ext cx="731520" cy="73152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2" name="numero-3"/>
          <p:cNvSpPr txBox="1"/>
          <p:nvPr/>
        </p:nvSpPr>
        <p:spPr>
          <a:xfrm>
            <a:off x="548640" y="56967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3" name="item-3"/>
          <p:cNvSpPr txBox="1"/>
          <p:nvPr/>
        </p:nvSpPr>
        <p:spPr>
          <a:xfrm>
            <a:off x="1554480" y="56235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de convívio dividido de forma equilibrada</a:t>
            </a:r>
            <a:endParaRPr lang="en-US" sz="2000" dirty="0"/>
          </a:p>
        </p:txBody>
      </p:sp>
      <p:sp>
        <p:nvSpPr>
          <p:cNvPr id="14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Código Civil, art. 1.583, §§ 1º e 2º</a:t>
            </a:r>
            <a:endParaRPr lang="en-US" sz="1400" dirty="0"/>
          </a:p>
        </p:txBody>
      </p:sp>
      <p:sp>
        <p:nvSpPr>
          <p:cNvPr id="15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6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163824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163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PREVIDENCIÁRIO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Auxílio-doença: mais de 15 dias de incapacidade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auxílio-doença é devido ao segurado que, cumprida a carência quando exigida, ficar incapacitado para o trabalho ou para a atividade habitual por mais de 15 dias consecutivos.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Lei 8.213/1991, art. 59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3163824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3163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 PREVIDENCIÁRIO</a:t>
            </a:r>
            <a:endParaRPr lang="en-US" sz="1300" dirty="0"/>
          </a:p>
        </p:txBody>
      </p:sp>
      <p:sp>
        <p:nvSpPr>
          <p:cNvPr id="4" name="titulo"/>
          <p:cNvSpPr txBox="1"/>
          <p:nvPr/>
        </p:nvSpPr>
        <p:spPr>
          <a:xfrm>
            <a:off x="548640" y="132588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Dependentes do segurado (art. 16)</a:t>
            </a:r>
            <a:endParaRPr lang="en-US" sz="3400" dirty="0"/>
          </a:p>
        </p:txBody>
      </p:sp>
      <p:sp>
        <p:nvSpPr>
          <p:cNvPr id="5" name="numero-1-fundo"/>
          <p:cNvSpPr/>
          <p:nvPr/>
        </p:nvSpPr>
        <p:spPr>
          <a:xfrm>
            <a:off x="548640" y="2953512"/>
            <a:ext cx="731520" cy="73152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6" name="numero-1"/>
          <p:cNvSpPr txBox="1"/>
          <p:nvPr/>
        </p:nvSpPr>
        <p:spPr>
          <a:xfrm>
            <a:off x="548640" y="29535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item-1"/>
          <p:cNvSpPr txBox="1"/>
          <p:nvPr/>
        </p:nvSpPr>
        <p:spPr>
          <a:xfrm>
            <a:off x="1554480" y="28803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I: cônjuge, companheiro(a) e filho não emancipado menor de 21 anos, inválido ou com deficiência</a:t>
            </a:r>
            <a:endParaRPr lang="en-US" sz="2000" dirty="0"/>
          </a:p>
        </p:txBody>
      </p:sp>
      <p:sp>
        <p:nvSpPr>
          <p:cNvPr id="8" name="numero-2-fundo"/>
          <p:cNvSpPr/>
          <p:nvPr/>
        </p:nvSpPr>
        <p:spPr>
          <a:xfrm>
            <a:off x="548640" y="4325112"/>
            <a:ext cx="731520" cy="73152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9" name="numero-2"/>
          <p:cNvSpPr txBox="1"/>
          <p:nvPr/>
        </p:nvSpPr>
        <p:spPr>
          <a:xfrm>
            <a:off x="548640" y="43251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item-2"/>
          <p:cNvSpPr txBox="1"/>
          <p:nvPr/>
        </p:nvSpPr>
        <p:spPr>
          <a:xfrm>
            <a:off x="1554480" y="42519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II: os pais</a:t>
            </a:r>
            <a:endParaRPr lang="en-US" sz="2000" dirty="0"/>
          </a:p>
        </p:txBody>
      </p:sp>
      <p:sp>
        <p:nvSpPr>
          <p:cNvPr id="11" name="numero-3-fundo"/>
          <p:cNvSpPr/>
          <p:nvPr/>
        </p:nvSpPr>
        <p:spPr>
          <a:xfrm>
            <a:off x="548640" y="5696712"/>
            <a:ext cx="731520" cy="73152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2" name="numero-3"/>
          <p:cNvSpPr txBox="1"/>
          <p:nvPr/>
        </p:nvSpPr>
        <p:spPr>
          <a:xfrm>
            <a:off x="548640" y="56967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3" name="item-3"/>
          <p:cNvSpPr txBox="1"/>
          <p:nvPr/>
        </p:nvSpPr>
        <p:spPr>
          <a:xfrm>
            <a:off x="1554480" y="562356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III: irmão não emancipado menor de 21 anos, inválido ou com deficiência</a:t>
            </a:r>
            <a:endParaRPr lang="en-US" sz="2000" dirty="0"/>
          </a:p>
        </p:txBody>
      </p:sp>
      <p:sp>
        <p:nvSpPr>
          <p:cNvPr id="14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Lei 8.213/1991, art. 16, I a III</a:t>
            </a:r>
            <a:endParaRPr lang="en-US" sz="1400" dirty="0"/>
          </a:p>
        </p:txBody>
      </p:sp>
      <p:sp>
        <p:nvSpPr>
          <p:cNvPr id="15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6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1618488" cy="45720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1618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SUCESSÕES</a:t>
            </a:r>
            <a:endParaRPr lang="en-US" sz="1300" dirty="0"/>
          </a:p>
        </p:txBody>
      </p:sp>
      <p:sp>
        <p:nvSpPr>
          <p:cNvPr id="4" name="chamada"/>
          <p:cNvSpPr txBox="1"/>
          <p:nvPr/>
        </p:nvSpPr>
        <p:spPr>
          <a:xfrm>
            <a:off x="548640" y="13716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Você sabia?</a:t>
            </a:r>
            <a:endParaRPr lang="en-US" sz="24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1965960"/>
            <a:ext cx="5760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Testamento e legítima</a:t>
            </a:r>
            <a:endParaRPr lang="en-US" sz="4000" dirty="0"/>
          </a:p>
        </p:txBody>
      </p:sp>
      <p:sp>
        <p:nvSpPr>
          <p:cNvPr id="6" name="caixa-texto"/>
          <p:cNvSpPr/>
          <p:nvPr/>
        </p:nvSpPr>
        <p:spPr>
          <a:xfrm>
            <a:off x="548640" y="4526280"/>
            <a:ext cx="5760720" cy="2423160"/>
          </a:xfrm>
          <a:prstGeom prst="roundRect">
            <a:avLst>
              <a:gd name="adj" fmla="val 7547"/>
            </a:avLst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</p:sp>
      <p:sp>
        <p:nvSpPr>
          <p:cNvPr id="7" name="texto"/>
          <p:cNvSpPr txBox="1"/>
          <p:nvPr/>
        </p:nvSpPr>
        <p:spPr>
          <a:xfrm>
            <a:off x="868680" y="4709160"/>
            <a:ext cx="51206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pessoa capaz pode dispor por testamento da totalidade dos seus bens ou de parte deles, mas a legítima dos herdeiros necessários, que corresponde à metade da herança, não pode ser incluída no testamento.</a:t>
            </a:r>
            <a:endParaRPr lang="en-US" sz="2000" dirty="0"/>
          </a:p>
        </p:txBody>
      </p:sp>
      <p:sp>
        <p:nvSpPr>
          <p:cNvPr id="8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Código Civil, arts. 1.857, § 1º, e 1.846</a:t>
            </a:r>
            <a:endParaRPr lang="en-US" sz="1400" dirty="0"/>
          </a:p>
        </p:txBody>
      </p:sp>
      <p:sp>
        <p:nvSpPr>
          <p:cNvPr id="9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10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tiqueta-fundo"/>
          <p:cNvSpPr/>
          <p:nvPr/>
        </p:nvSpPr>
        <p:spPr>
          <a:xfrm>
            <a:off x="548640" y="640080"/>
            <a:ext cx="2212848" cy="457200"/>
          </a:xfrm>
          <a:prstGeom prst="roundRect">
            <a:avLst>
              <a:gd name="adj" fmla="val 50000"/>
            </a:avLst>
          </a:prstGeom>
          <a:solidFill>
            <a:srgbClr val="2E3B5C"/>
          </a:solidFill>
          <a:ln w="12700">
            <a:solidFill>
              <a:srgbClr val="2E3B5C"/>
            </a:solidFill>
            <a:prstDash val="solid"/>
          </a:ln>
        </p:spPr>
      </p:sp>
      <p:sp>
        <p:nvSpPr>
          <p:cNvPr id="3" name="etiqueta"/>
          <p:cNvSpPr txBox="1"/>
          <p:nvPr/>
        </p:nvSpPr>
        <p:spPr>
          <a:xfrm>
            <a:off x="548640" y="640080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E6D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 CIVIL</a:t>
            </a:r>
            <a:endParaRPr lang="en-US" sz="1300" dirty="0"/>
          </a:p>
        </p:txBody>
      </p:sp>
      <p:sp>
        <p:nvSpPr>
          <p:cNvPr id="4" name="numero"/>
          <p:cNvSpPr txBox="1"/>
          <p:nvPr/>
        </p:nvSpPr>
        <p:spPr>
          <a:xfrm>
            <a:off x="548640" y="1417320"/>
            <a:ext cx="5760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0" b="1" dirty="0">
                <a:solidFill>
                  <a:srgbClr val="B08D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dias</a:t>
            </a:r>
            <a:endParaRPr lang="en-US" sz="11000" dirty="0"/>
          </a:p>
        </p:txBody>
      </p:sp>
      <p:sp>
        <p:nvSpPr>
          <p:cNvPr id="5" name="titulo"/>
          <p:cNvSpPr txBox="1"/>
          <p:nvPr/>
        </p:nvSpPr>
        <p:spPr>
          <a:xfrm>
            <a:off x="548640" y="347472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Prazo para contestar</a:t>
            </a:r>
            <a:endParaRPr lang="en-US" sz="3200" dirty="0"/>
          </a:p>
        </p:txBody>
      </p:sp>
      <p:sp>
        <p:nvSpPr>
          <p:cNvPr id="6" name="texto"/>
          <p:cNvSpPr txBox="1"/>
          <p:nvPr/>
        </p:nvSpPr>
        <p:spPr>
          <a:xfrm>
            <a:off x="548640" y="4983480"/>
            <a:ext cx="5760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réu pode oferecer contestação, por petição, no prazo de 15 dias. Na contagem de prazo em dias, computam-se somente os dias úteis.</a:t>
            </a:r>
            <a:endParaRPr lang="en-US" sz="2000" dirty="0"/>
          </a:p>
        </p:txBody>
      </p:sp>
      <p:sp>
        <p:nvSpPr>
          <p:cNvPr id="7" name="base-legal"/>
          <p:cNvSpPr txBox="1"/>
          <p:nvPr/>
        </p:nvSpPr>
        <p:spPr>
          <a:xfrm>
            <a:off x="548640" y="71551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CPC, arts. 335 e 219</a:t>
            </a:r>
            <a:endParaRPr lang="en-US" sz="1400" dirty="0"/>
          </a:p>
        </p:txBody>
      </p:sp>
      <p:sp>
        <p:nvSpPr>
          <p:cNvPr id="8" name="rodape-nome"/>
          <p:cNvSpPr txBox="1"/>
          <p:nvPr/>
        </p:nvSpPr>
        <p:spPr>
          <a:xfrm>
            <a:off x="548640" y="77952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DE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Escritório] · OAB/UF 00.000</a:t>
            </a:r>
            <a:endParaRPr lang="en-US" sz="1400" dirty="0"/>
          </a:p>
        </p:txBody>
      </p:sp>
      <p:sp>
        <p:nvSpPr>
          <p:cNvPr id="9" name="rodape-perfil"/>
          <p:cNvSpPr txBox="1"/>
          <p:nvPr/>
        </p:nvSpPr>
        <p:spPr>
          <a:xfrm>
            <a:off x="4480560" y="77952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08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@seuperfil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Clube de Posts para Advogados — Edição 02</dc:title>
  <dc:subject>PptxGenJS Presentation</dc:subject>
  <dc:creator>Gabriel Araujo de Lima</dc:creator>
  <cp:lastModifiedBy>Gabriel Araujo de Lima</cp:lastModifiedBy>
  <cp:revision>1</cp:revision>
  <dcterms:created xsi:type="dcterms:W3CDTF">2026-10-27T23:21:36Z</dcterms:created>
  <dcterms:modified xsi:type="dcterms:W3CDTF">2026-10-27T23:21:36Z</dcterms:modified>
</cp:coreProperties>
</file>